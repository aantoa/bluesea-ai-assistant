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a3d4058d254a61" /><Relationship Type="http://schemas.openxmlformats.org/officeDocument/2006/relationships/extended-properties" Target="/docProps/app.xml" Id="Rc6a4e7a9249f41a2" /><Relationship Type="http://schemas.openxmlformats.org/officeDocument/2006/relationships/officeDocument" Target="/ppt/presentation.xml" Id="R23ed9bad2f1c40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ddc6bcd024494b"/>
  </p:sldMasterIdLst>
  <p:notesMasterIdLst>
    <p:notesMasterId xmlns:r="http://schemas.openxmlformats.org/officeDocument/2006/relationships" r:id="R1f067e618532418a"/>
  </p:notesMasterIdLst>
  <p:sldIdLst>
    <p:sldId xmlns:r="http://schemas.openxmlformats.org/officeDocument/2006/relationships" id="256" r:id="R8460e02a51b646f1"/>
    <p:sldId xmlns:r="http://schemas.openxmlformats.org/officeDocument/2006/relationships" id="257" r:id="Rfb1423c4802f41cd"/>
    <p:sldId xmlns:r="http://schemas.openxmlformats.org/officeDocument/2006/relationships" id="258" r:id="Rfbf12daba0ce48da"/>
    <p:sldId xmlns:r="http://schemas.openxmlformats.org/officeDocument/2006/relationships" id="259" r:id="R10e6a2c30b6e4059"/>
    <p:sldId xmlns:r="http://schemas.openxmlformats.org/officeDocument/2006/relationships" id="260" r:id="R964a05d6dae14504"/>
    <p:sldId xmlns:r="http://schemas.openxmlformats.org/officeDocument/2006/relationships" id="261" r:id="R1f6a209f16b5432b"/>
    <p:sldId xmlns:r="http://schemas.openxmlformats.org/officeDocument/2006/relationships" id="262" r:id="Re3a425dcacf548ef"/>
    <p:sldId xmlns:r="http://schemas.openxmlformats.org/officeDocument/2006/relationships" id="263" r:id="Rab07728198364db3"/>
    <p:sldId xmlns:r="http://schemas.openxmlformats.org/officeDocument/2006/relationships" id="264" r:id="R79d1f7f0c2ab4e4d"/>
    <p:sldId xmlns:r="http://schemas.openxmlformats.org/officeDocument/2006/relationships" id="265" r:id="R98a5bf2cbebf4d54"/>
    <p:sldId xmlns:r="http://schemas.openxmlformats.org/officeDocument/2006/relationships" id="266" r:id="Re56d9d76285540f8"/>
    <p:sldId xmlns:r="http://schemas.openxmlformats.org/officeDocument/2006/relationships" id="267" r:id="Rc194c9e511f34e69"/>
    <p:sldId xmlns:r="http://schemas.openxmlformats.org/officeDocument/2006/relationships" id="268" r:id="R55b337e9c78446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8e05782e184b78" /><Relationship Type="http://schemas.openxmlformats.org/officeDocument/2006/relationships/slideMaster" Target="/ppt/slideMasters/slideMaster1.xml" Id="R54ddc6bcd024494b" /><Relationship Type="http://schemas.openxmlformats.org/officeDocument/2006/relationships/notesMaster" Target="/ppt/notesMasters/notesMaster1.xml" Id="R1f067e618532418a" /><Relationship Type="http://schemas.openxmlformats.org/officeDocument/2006/relationships/presProps" Target="/ppt/presProps.xml" Id="Radf45b48dac94215" /><Relationship Type="http://schemas.openxmlformats.org/officeDocument/2006/relationships/tableStyles" Target="/ppt/tableStyles.xml" Id="R6f640abbd6f84b01" /><Relationship Type="http://schemas.openxmlformats.org/officeDocument/2006/relationships/slide" Target="/ppt/slides/slide1.xml" Id="R8460e02a51b646f1" /><Relationship Type="http://schemas.openxmlformats.org/officeDocument/2006/relationships/slide" Target="/ppt/slides/slide2.xml" Id="Rfb1423c4802f41cd" /><Relationship Type="http://schemas.openxmlformats.org/officeDocument/2006/relationships/slide" Target="/ppt/slides/slide3.xml" Id="Rfbf12daba0ce48da" /><Relationship Type="http://schemas.openxmlformats.org/officeDocument/2006/relationships/slide" Target="/ppt/slides/slide4.xml" Id="R10e6a2c30b6e4059" /><Relationship Type="http://schemas.openxmlformats.org/officeDocument/2006/relationships/slide" Target="/ppt/slides/slide5.xml" Id="R964a05d6dae14504" /><Relationship Type="http://schemas.openxmlformats.org/officeDocument/2006/relationships/slide" Target="/ppt/slides/slide6.xml" Id="R1f6a209f16b5432b" /><Relationship Type="http://schemas.openxmlformats.org/officeDocument/2006/relationships/slide" Target="/ppt/slides/slide7.xml" Id="Re3a425dcacf548ef" /><Relationship Type="http://schemas.openxmlformats.org/officeDocument/2006/relationships/slide" Target="/ppt/slides/slide8.xml" Id="Rab07728198364db3" /><Relationship Type="http://schemas.openxmlformats.org/officeDocument/2006/relationships/slide" Target="/ppt/slides/slide9.xml" Id="R79d1f7f0c2ab4e4d" /><Relationship Type="http://schemas.openxmlformats.org/officeDocument/2006/relationships/slide" Target="/ppt/slides/slide10.xml" Id="R98a5bf2cbebf4d54" /><Relationship Type="http://schemas.openxmlformats.org/officeDocument/2006/relationships/slide" Target="/ppt/slides/slide11.xml" Id="Re56d9d76285540f8" /><Relationship Type="http://schemas.openxmlformats.org/officeDocument/2006/relationships/slide" Target="/ppt/slides/slide12.xml" Id="Rc194c9e511f34e69" /><Relationship Type="http://schemas.openxmlformats.org/officeDocument/2006/relationships/slide" Target="/ppt/slides/slide13.xml" Id="R55b337e9c78446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b2c8bff50247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ece541664a4f66" /><Relationship Type="http://schemas.openxmlformats.org/officeDocument/2006/relationships/notesMaster" Target="/ppt/notesMasters/notesMaster1.xml" Id="R2465290c92b64d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e42fb784ea4147" /><Relationship Type="http://schemas.openxmlformats.org/officeDocument/2006/relationships/notesMaster" Target="/ppt/notesMasters/notesMaster1.xml" Id="R3b7f0c4c83b24b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1ddb905e584ffe" /><Relationship Type="http://schemas.openxmlformats.org/officeDocument/2006/relationships/notesMaster" Target="/ppt/notesMasters/notesMaster1.xml" Id="R8c72bc05cb4249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5505bdfddf404a" /><Relationship Type="http://schemas.openxmlformats.org/officeDocument/2006/relationships/notesMaster" Target="/ppt/notesMasters/notesMaster1.xml" Id="Ra16eb9022ace42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6dae8023624537" /><Relationship Type="http://schemas.openxmlformats.org/officeDocument/2006/relationships/notesMaster" Target="/ppt/notesMasters/notesMaster1.xml" Id="R7b1c7de1368749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b803d7b68343d4" /><Relationship Type="http://schemas.openxmlformats.org/officeDocument/2006/relationships/notesMaster" Target="/ppt/notesMasters/notesMaster1.xml" Id="R475a02fd7bcf47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ccb649f6d94994" /><Relationship Type="http://schemas.openxmlformats.org/officeDocument/2006/relationships/notesMaster" Target="/ppt/notesMasters/notesMaster1.xml" Id="Ra1362f71d75a4f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1f6fdd55fb4763" /><Relationship Type="http://schemas.openxmlformats.org/officeDocument/2006/relationships/notesMaster" Target="/ppt/notesMasters/notesMaster1.xml" Id="R3f2fb59b5da44f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4ec45bc55c4c69" /><Relationship Type="http://schemas.openxmlformats.org/officeDocument/2006/relationships/notesMaster" Target="/ppt/notesMasters/notesMaster1.xml" Id="R7eb7425cda2f423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e29a4da28d49a7" /><Relationship Type="http://schemas.openxmlformats.org/officeDocument/2006/relationships/notesMaster" Target="/ppt/notesMasters/notesMaster1.xml" Id="Rf5985f2ddddb4b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48cb05f3a4449a" /><Relationship Type="http://schemas.openxmlformats.org/officeDocument/2006/relationships/notesMaster" Target="/ppt/notesMasters/notesMaster1.xml" Id="R026798af5dc4440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bf509beee44581" /><Relationship Type="http://schemas.openxmlformats.org/officeDocument/2006/relationships/notesMaster" Target="/ppt/notesMasters/notesMaster1.xml" Id="Rd3ea696a9f9a49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c54449dd204dd0" /><Relationship Type="http://schemas.openxmlformats.org/officeDocument/2006/relationships/notesMaster" Target="/ppt/notesMasters/notesMaster1.xml" Id="R4618195da11f44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2992ff2c74a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b0b78c45fe4eda" /><Relationship Type="http://schemas.openxmlformats.org/officeDocument/2006/relationships/slideLayout" Target="/ppt/slideLayouts/slideLayout1.xml" Id="Re0b79f73e5a641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b79f73e5a641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de7f380b54aa0" /><Relationship Type="http://schemas.openxmlformats.org/officeDocument/2006/relationships/notesSlide" Target="/ppt/notesSlides/notesSlide1.xml" Id="Rc7d7e1be58b348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a89bd56284ea4" /><Relationship Type="http://schemas.openxmlformats.org/officeDocument/2006/relationships/notesSlide" Target="/ppt/notesSlides/notesSlide2.xml" Id="Rbf5cc697d8fd4e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d7961b1bc45c1" /><Relationship Type="http://schemas.openxmlformats.org/officeDocument/2006/relationships/notesSlide" Target="/ppt/notesSlides/notesSlide3.xml" Id="Rf1df562648af4d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0efd7fbbb47c4" /><Relationship Type="http://schemas.openxmlformats.org/officeDocument/2006/relationships/notesSlide" Target="/ppt/notesSlides/notesSlide4.xml" Id="R6d4b0fbe324942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e7ff9f49ef446d" /><Relationship Type="http://schemas.openxmlformats.org/officeDocument/2006/relationships/notesSlide" Target="/ppt/notesSlides/notesSlide5.xml" Id="R1b712edd113a4a3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6f722bb3c4d5d" /><Relationship Type="http://schemas.openxmlformats.org/officeDocument/2006/relationships/notesSlide" Target="/ppt/notesSlides/notesSlide6.xml" Id="R655375181f5045b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7ae1a35d64ea4" /><Relationship Type="http://schemas.openxmlformats.org/officeDocument/2006/relationships/notesSlide" Target="/ppt/notesSlides/notesSlide7.xml" Id="R4baf773b46c248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af887599a4e6f" /><Relationship Type="http://schemas.openxmlformats.org/officeDocument/2006/relationships/notesSlide" Target="/ppt/notesSlides/notesSlide8.xml" Id="R9161c5a88b3b4c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401237d714308" /><Relationship Type="http://schemas.openxmlformats.org/officeDocument/2006/relationships/notesSlide" Target="/ppt/notesSlides/notesSlide9.xml" Id="Rfface639d1de4bb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291884c6743e8" /><Relationship Type="http://schemas.openxmlformats.org/officeDocument/2006/relationships/notesSlide" Target="/ppt/notesSlides/notesSlide10.xml" Id="Rf3023fc207164d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c0e02f7c14fb4" /><Relationship Type="http://schemas.openxmlformats.org/officeDocument/2006/relationships/notesSlide" Target="/ppt/notesSlides/notesSlide11.xml" Id="R1e26549332ed4c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d778fd40b4432" /><Relationship Type="http://schemas.openxmlformats.org/officeDocument/2006/relationships/notesSlide" Target="/ppt/notesSlides/notesSlide12.xml" Id="Ra84683013a254d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d34cab421464a" /><Relationship Type="http://schemas.openxmlformats.org/officeDocument/2006/relationships/notesSlide" Target="/ppt/notesSlides/notesSlide13.xml" Id="R48be76ba78fd45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C08A85-4706-4BFF-8D7B-9D8E6FAC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BLUESEA FOODS S.A.C. | QUALITY MANAGEMENT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A627D-5FD2-4C88-9631-0E534428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838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Quality Management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B6107-060B-47C4-8FB4-9E7B0D9B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E3C85-8A84-4770-AA94-A87D8255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How BSF protects product quality, food safety, traceability, compliance, and customer confidence through everyday 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47503-0545-40F4-B8DA-4DB95624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990600"/>
            <a:ext cx="27051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DDF3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875D3-1321-4891-92EF-6E66F85B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229100"/>
            <a:ext cx="2095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Draft for Review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Version 1.0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Internal Use 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E94D81-D412-4C27-8B5D-1AF03B79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BSF-QMS-001 | Quality Management Induction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09F09E-364D-4E72-B408-606B8DBF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774286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8C6FA8-204B-48B5-B0B4-BB366CFF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DOCUMENT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72737-996D-479D-80CB-16D1B7DD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This induction is part of the controlled QMS document 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9054C-C27E-4D17-8848-9946BAE0B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Use this deck for onboarding, annual refreshers, and cross-functional awareness 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159ED-61FC-4E13-B355-1076E0BE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5DF5A-B469-4A3E-ACF6-3FC8CBA6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BSF-QMS-001 | Quality Management Induction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02807-07F9-4582-9F52-555058FF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5219700" cy="32956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3409950"/>
              </a:tblGrid>
              <a:tr h="32956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Field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Document Code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BSF-QMS-001</a:t>
                      </a:r>
                    </a:p>
                  </a:txBody>
                  <a:tcPr marL="91440" marR="91440" marT="45720" marB="45720"/>
                </a:tc>
              </a:tr>
              <a:tr h="32956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Document Title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Quality Management Induction</a:t>
                      </a:r>
                    </a:p>
                  </a:txBody>
                  <a:tcPr marL="91440" marR="91440" marT="45720" marB="45720"/>
                </a:tc>
              </a:tr>
              <a:tr h="32956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Document Type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Training Presentation</a:t>
                      </a:r>
                    </a:p>
                  </a:txBody>
                  <a:tcPr marL="91440" marR="91440" marT="45720" marB="45720"/>
                </a:tc>
              </a:tr>
              <a:tr h="32956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Business Area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Quality and Certifications</a:t>
                      </a:r>
                    </a:p>
                  </a:txBody>
                  <a:tcPr marL="91440" marR="91440" marT="45720" marB="45720"/>
                </a:tc>
              </a:tr>
              <a:tr h="32956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Process Owner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Quality Assurance Manager</a:t>
                      </a:r>
                    </a:p>
                  </a:txBody>
                  <a:tcPr marL="91440" marR="91440" marT="45720" marB="45720"/>
                </a:tc>
              </a:tr>
              <a:tr h="32956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Source Review Format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PPTX</a:t>
                      </a:r>
                    </a:p>
                  </a:txBody>
                  <a:tcPr marL="91440" marR="91440" marT="45720" marB="45720"/>
                </a:tc>
              </a:tr>
              <a:tr h="32956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Target Export Format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PPTX</a:t>
                      </a:r>
                    </a:p>
                  </a:txBody>
                  <a:tcPr marL="91440" marR="91440" marT="45720" marB="45720"/>
                </a:tc>
              </a:tr>
              <a:tr h="32956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Status / Version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Draft for Review / 1.0</a:t>
                      </a:r>
                    </a:p>
                  </a:txBody>
                  <a:tcPr marL="91440" marR="91440" marT="45720" marB="45720"/>
                </a:tc>
              </a:tr>
              <a:tr h="32956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Confidentiality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Internal Use Only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C3641-73CE-4A1E-842F-E3A1F516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47625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B344C-7559-4087-9EF6-C4AD0E1E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527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Keywords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A64EB2-94B7-4E51-8251-E71023A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28950"/>
            <a:ext cx="40005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18000"/>
              </a:lnSpc>
              <a:buNone/>
              <a:defRPr sz="127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quality management system; ISO 9001; HACCP</a:t>
            </a:r>
          </a:p>
          <a:p xmlns:a="http://schemas.openxmlformats.org/drawingml/2006/main">
            <a:pPr marL="18" indent="-10" algn="l">
              <a:lnSpc>
                <a:spcPct val="118000"/>
              </a:lnSpc>
              <a:buNone/>
              <a:defRPr sz="127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food safety; traceability; certified seafood</a:t>
            </a:r>
          </a:p>
          <a:p xmlns:a="http://schemas.openxmlformats.org/drawingml/2006/main">
            <a:pPr marL="18" indent="-10" algn="l">
              <a:lnSpc>
                <a:spcPct val="118000"/>
              </a:lnSpc>
              <a:buNone/>
              <a:defRPr sz="127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BRCGS Food Safety; IFS Food; MSC Chain of Custody</a:t>
            </a:r>
          </a:p>
          <a:p xmlns:a="http://schemas.openxmlformats.org/drawingml/2006/main">
            <a:pPr marL="18" indent="-10" algn="l">
              <a:lnSpc>
                <a:spcPct val="118000"/>
              </a:lnSpc>
              <a:buNone/>
              <a:defRPr sz="127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BASC; SMETA; corrective action; nonconformity</a:t>
            </a:r>
          </a:p>
          <a:p xmlns:a="http://schemas.openxmlformats.org/drawingml/2006/main">
            <a:pPr marL="18" indent="-10" algn="l">
              <a:lnSpc>
                <a:spcPct val="118000"/>
              </a:lnSpc>
              <a:buNone/>
              <a:defRPr sz="127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document control; employee competence; audit readiness</a:t>
            </a:r>
          </a:p>
        </p:txBody>
      </p:sp>
    </p:spTree>
    <p:extLst>
      <p:ext uri="{BB962C8B-B14F-4D97-AF65-F5344CB8AC3E}">
        <p14:creationId xmlns:p14="http://schemas.microsoft.com/office/powerpoint/2010/main" val="18837392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AD60C0-EDAD-4DE9-B2BF-76C88A8A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7D753-FBBE-44CF-8187-6E9317E2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Quality is controlled by process discipline, not inspection alone.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27DDE3-6FF9-4FE2-8356-70362F2B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Every person who receives, handles, records, stores, ships, or supports seafood operations contributes to the QMS.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5DB11-7409-4643-942A-CCFBDE45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5A0A63-3CCF-477D-A680-21C5D262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BSF-QMS-001 | Quality Management Induction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7FEA2-6ABC-47F2-95B7-B9CDD81D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42CF9-6F1D-499C-A20B-2293DD63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DDF3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02176-4AF2-4349-B774-6D018E4B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Understand the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E161AC-92A9-4617-A623-6642514D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Know why procedures, records, specifications, training, and approvals exist before work is performed.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CF235-926B-4A0F-A641-1D92D6D0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0A3EF-C1C7-409E-B109-466E42F4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Apply daily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AE24F-B1BE-4C40-A56D-40D594BD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1465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Use approved methods for receiving, cold chain, hygiene, product status, traceability, and release decisions.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A7DA7-35D2-4BEE-A77A-5E16E6AB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8125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D5777-5E20-4AB5-B520-2FA75E05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527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React correctly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5866F-80EB-4B7A-A4B1-646EA96B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1465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Escalate nonconformities, protect product, preserve evidence, and support corrective action before risk spreads.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8FD3E7-74B8-497C-9DA9-1051C55D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29200"/>
            <a:ext cx="9791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By the end, employees should understand how their role protects food safety, compliance, certification claims, and customer trust.</a:t>
            </a:r>
          </a:p>
        </p:txBody>
      </p:sp>
    </p:spTree>
    <p:extLst>
      <p:ext uri="{BB962C8B-B14F-4D97-AF65-F5344CB8AC3E}">
        <p14:creationId xmlns:p14="http://schemas.microsoft.com/office/powerpoint/2010/main" val="8232780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FED109-9FE1-423F-8F77-6BDE1476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QMS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FB310-D8C9-4ECC-B1A3-FFA77EEB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QMS connects customer requirements to controlled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98CA3-9F95-412A-AD66-070D2274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The system works when each process produces reliable records and clear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5077D-0739-46B1-B914-D0E478E7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BBC00-3858-45B4-9AA5-83AA4663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BSF-QMS-001 | Quality Management Induction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1A187-7301-4A58-8281-DB227F4F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46993-FAF6-47CB-AA7D-585E2041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647950"/>
            <a:ext cx="17907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DDF3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D1B3C-5826-481B-9B51-2F609B7D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210ED-AAD5-4062-9451-A8039584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Requirement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91B3B-1889-4E4B-9E7A-BD554610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Customer, legal, certification, and internal expectations.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B0732-DB94-4D12-B800-2E8E35D6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671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25298-D2AA-478D-A89F-30F6D9C1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17907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22B2A-D7A3-4397-AC8A-D4454293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14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C80314-7B8D-471A-8DBE-6E46B2B0F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766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9E838-0E16-44A2-ACBF-75398199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Approved way of working for a defined process.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7653D-CDDE-4267-B0CF-5CE6D9F7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671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345C6F-DC6F-4960-942A-842E0DE8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47950"/>
            <a:ext cx="17907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316D0-C55E-4B0F-A9CF-A327C261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14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A1E6B6-D17E-4308-AB70-CE045501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766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F4C21-C9D0-4CEF-B70D-A4D58440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147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Trained personnel follow controls in real operations.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2FBE36-A432-493F-A7AD-279E2EF9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671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4BD94-7FD1-47BF-93E2-17FFD33D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47950"/>
            <a:ext cx="17907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1733E3-F763-43E2-9BFC-E895DD8C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14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F4F2D3-87FC-4C1B-95C0-E420EFC3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766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610AF3-0310-4C50-9513-32240547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147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Evidence confirms what happened and who approved it.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CEE2A9-7243-4912-9351-531523EA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6710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B38D9A-AB0C-4AB0-8679-A96D44C0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47950"/>
            <a:ext cx="17907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66E8C0-2657-4F7D-A8DD-20A7C0F9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914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A3AE25-AEC1-41A8-B9E5-0A2DB826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2766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Improvement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7CF1B9-0239-43C9-9362-AA15E0E9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7147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Findings drive correction, prevention, and learning.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250ABA-7CC8-4DF9-9A8C-257B6143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If any link is weak, BSF may lose traceability, release nonconforming product, or fail an audit.</a:t>
            </a:r>
          </a:p>
        </p:txBody>
      </p:sp>
    </p:spTree>
    <p:extLst>
      <p:ext uri="{BB962C8B-B14F-4D97-AF65-F5344CB8AC3E}">
        <p14:creationId xmlns:p14="http://schemas.microsoft.com/office/powerpoint/2010/main" val="330019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355C7B-50A5-40B0-90EA-1B3D24A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STANDARDS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F1B0B0-CF3E-464F-A245-BE2D9310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External standards become practical controls inside BSF.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9707A-01E4-48D9-834F-7F255876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The induction explains what employees need to do, not the full text of each external standard.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A3481-838A-4ACE-887D-BDA7E279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072F2-EEE3-4F26-9536-1380194A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BSF-QMS-001 | Quality Management Induction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9E80F-AD1D-4623-90C3-FEE68674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800100" y="2266950"/>
          <a:ext xmlns:a="http://schemas.openxmlformats.org/drawingml/2006/main" cx="1057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286000"/>
                <a:gridCol w="8286750"/>
              </a:tblGrid>
              <a:tr h="449036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Reference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employees should remember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ISO 9001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Follow approved processes, keep records, control changes, and improve from evidence.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HACCP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Prevent food safety hazards before product is accepted, processed, stored, or released.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BRCGS / IFS Food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Maintain hygiene, site standards, product control, traceability, and audit-ready records.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MSC Chain of Custody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Protect certified product identity, segregation, labeling, and claim integrity.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BASC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Control cargo, access, seals, suspicious activity, and supply-chain security evidence.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SMETA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Support safe, fair, responsible, and documented working conditions.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959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7924D7-3048-4062-BFEE-6CC6F01F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RESPONSIBILITIES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576F2-D364-4576-B47F-76666171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Quality is owned by process owners and executed by everyone.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F156F-72BD-4A2C-A636-585B66B1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Accountability is shared, but each role has a distinct decision 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DEE3C-9C4E-4A9E-8975-6EBF7914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03E2E-AADE-426D-9CFA-633E6326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BSF-QMS-001 | Quality Management Induction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54B0A-F982-4763-9489-48747E5E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198C6-0A52-42B6-9002-B490A877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DDF3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1DBC55-7B9E-471C-AAE0-40AD3014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QA Manager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9970B-B1CD-4806-8050-5F105392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00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Defines quality controls, release rules, nonconformity treatment, audit evidence, and certification readiness.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542E2-9137-467F-B03C-5668B861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D2BD4D-B4DB-4580-AA8C-EF56C896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38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Operations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CE696E-892F-4E0A-BB14-9ABC5D2B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0350"/>
            <a:ext cx="200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Executes receiving, processing, storage, dispatch, hygiene, and cold-chain controls as approved.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56359-D6C0-4307-97E6-CC515E79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6469C-18E6-432F-99CD-C4B6384D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Traceability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52A31-02A0-470C-A9EC-F5BF8657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00350"/>
            <a:ext cx="200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Maintains lot identity, certified status, records, labels, source data, and recall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3DABF-7508-429B-B54C-654E7AD6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66950"/>
            <a:ext cx="2381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168D56-8618-4521-8DBC-92CF89E0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38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All Personnel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D0A51-99E4-4E91-BFC0-E329B7DF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200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Follow procedures, complete records, report deviations, protect product status, and ask before guessing.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4FF11-684B-4D86-BA6F-AAB94BF0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process is not controlled until the responsible person, required record, acceptance criteria, and escalation route are clear.</a:t>
            </a:r>
          </a:p>
        </p:txBody>
      </p:sp>
    </p:spTree>
    <p:extLst>
      <p:ext uri="{BB962C8B-B14F-4D97-AF65-F5344CB8AC3E}">
        <p14:creationId xmlns:p14="http://schemas.microsoft.com/office/powerpoint/2010/main" val="8372263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3B739D-E701-4BAF-A9A6-F126549D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DAILY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23629-461C-4C45-ABC7-0B518D96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most important QMS behaviors are visible on the floor.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5AFFD-4A04-4A28-9CAF-3F248F52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Quality culture is built through repeated, documented, and supervised habits.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C86CF-194A-4A00-A686-B89D0509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A1A83F-6F44-4234-8DED-F3B4D159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BSF-QMS-001 | Quality Management Induction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E89A2-51F1-4B48-A4D2-0A5532FD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46F69-3BB7-4666-85C4-A508F808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619125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/>
          <a:lstStyle xmlns:a="http://schemas.openxmlformats.org/drawingml/2006/main"/>
          <a:p xmlns:a="http://schemas.openxmlformats.org/drawingml/2006/main">
            <a:pPr marL="18" indent="-10"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Use only current procedures, forms, specifications, and approved master data.</a:t>
            </a:r>
          </a:p>
          <a:p xmlns:a="http://schemas.openxmlformats.org/drawingml/2006/main">
            <a:pPr marL="18" indent="-10"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Check product identity, status, temperature, hygiene, label, and storage condition before movement.</a:t>
            </a:r>
          </a:p>
          <a:p xmlns:a="http://schemas.openxmlformats.org/drawingml/2006/main">
            <a:pPr marL="18" indent="-10"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Record results immediately, accurately, legibly, and under the right lot or batch.</a:t>
            </a:r>
          </a:p>
          <a:p xmlns:a="http://schemas.openxmlformats.org/drawingml/2006/main">
            <a:pPr marL="18" indent="-10"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Keep accepted, rejected, held, certified, and non-certified product clearly separated.</a:t>
            </a:r>
          </a:p>
          <a:p xmlns:a="http://schemas.openxmlformats.org/drawingml/2006/main">
            <a:pPr marL="18" indent="-10"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Escalate missing documents, unusual product condition, broken seals, unclear labels, or temperature deviation.</a:t>
            </a:r>
          </a:p>
          <a:p xmlns:a="http://schemas.openxmlformats.org/drawingml/2006/main">
            <a:pPr marL="18" indent="-10" algn="l">
              <a:lnSpc>
                <a:spcPct val="118000"/>
              </a:lnSpc>
              <a:buNone/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Never release product when the acceptance criteria, approval authority, or traceability evidence is uncertain.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B94A6-0CC6-4A66-9B01-A3BFC6DE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3028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DDF3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F2AFA-5686-402D-A073-B862BD77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05100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Simple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11EE91-60E6-4929-A532-A90BB5C2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62300"/>
            <a:ext cx="2324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When quality status is unclear, the product is not released. It is protected, identified, and escalated.</a:t>
            </a:r>
          </a:p>
        </p:txBody>
      </p:sp>
    </p:spTree>
    <p:extLst>
      <p:ext uri="{BB962C8B-B14F-4D97-AF65-F5344CB8AC3E}">
        <p14:creationId xmlns:p14="http://schemas.microsoft.com/office/powerpoint/2010/main" val="6151905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8ACE49-1F6D-4ABD-8A66-93B4832F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TRACEABILITY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F8456-0641-4284-B953-3E7B2285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Traceability depends on consistent identity from source to dispatch.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11DB6-EB75-4641-AB53-376D509B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A traceable lot can be followed backward to origin and forward to customers using controlled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7DB0B-AA0D-40B9-8D8F-4F321240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4CD538-DA84-4A7D-B774-99988C95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BSF-QMS-001 | Quality Management Induction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79A6A-F0E8-4B3F-8721-562FE6E3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85800" y="220980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90750"/>
                <a:gridCol w="4707082"/>
                <a:gridCol w="3922568"/>
              </a:tblGrid>
              <a:tr h="5238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Control Point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Required Evidence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Main Risk If Missing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Supplier / vessel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Approval status, source data, legal origin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Unapproved source or invalid claim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Receiving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Inspection record, temperature, lot code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Unknown condition at entry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Storage / processing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Movement record, status, segregation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Mixing or loss of certified identity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Release / dispatch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QA release, label, packing, seal record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Wrong shipment or unsupported claim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Recall 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Mass balance, link to customers, timing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Slow or incomplete product recovery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0363B-2F93-4D78-9D90-4EC9F832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885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Linked files: BSF-OPS-001, BSF-OPS-002, BSF-OPS-003, BSF-OPS-004, BSF-QMS-003.</a:t>
            </a:r>
          </a:p>
        </p:txBody>
      </p:sp>
    </p:spTree>
    <p:extLst>
      <p:ext uri="{BB962C8B-B14F-4D97-AF65-F5344CB8AC3E}">
        <p14:creationId xmlns:p14="http://schemas.microsoft.com/office/powerpoint/2010/main" val="4276769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F2E636-088B-4ADA-8E98-6B1F17A1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NONCONFORMITIES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E21A4-C958-48AC-85C6-08382A26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nonconformity is a signal to protect the product and improve the system.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3CDD4-6C9A-4738-B3EC-77D5264B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The first response is containment; the final response is verified corrective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FEA14-7B8F-4512-9B5B-DD3E20FD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436CB-3315-4BD6-8E94-F4A28EC3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BSF-QMS-001 | Quality Management Induction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B2F76-BF38-43F1-96DE-B8C800D9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5029E-3241-4D24-9D70-A8C2D002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6EEF8-F47F-459D-8CDA-C79160E7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Detect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9AA9F-051A-4E5D-882F-932B900B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2098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Find deviation through inspection, audit, complaint, monitoring, or observation.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26972-EFA1-4D2E-9F29-4D1B6028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521F7-74DB-4983-AE0D-93DD3D7C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F41B4-143E-4478-9790-178B9A96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Contain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5D750-BD2C-454B-AB5A-EEAD1CD1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Stop release, identify affected product, protect evidence, and inform the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6CEE4-A293-455F-9DF6-D442BB5B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B7A2B-0CFC-4F50-A485-E0D12D18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8D27E-4239-400C-BCF4-D846BBE0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38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Evaluate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74775-47B1-419E-83F0-BA9ED5C4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576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Assess food safety, quality, legal, certification, customer, and security impact.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C3095-325F-43F5-B364-0012F232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D024F-A67E-4D81-87D2-0EFA11F0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411573-B5DB-4EDB-952F-781DD99B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Correct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3E3FF-7757-4CD2-892D-0C22A3E3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815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Fix immediate issue and define root-cause-based corrective action.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24B6D6-5525-4A8A-973F-79935F33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48E205-FEA0-488B-883B-18FE595E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C1961C-860D-4B35-831A-E23EA74C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86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126ED8-DAB6-485B-919F-98EFA558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1054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Confirm action effectiveness and update documents or training when needed.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E8A8A5-AA1E-4AC2-87B7-A0F0A4FB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80236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08BC0C-5A79-4CC8-9BFF-B3B08160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AUDIT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409F2-E717-4EEC-8B71-79D7CF583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Audit readiness means evidence is current before the auditor asks.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102F3-D7E4-4C4A-B82D-DA0DB0B8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Employees support audits by knowing where records are, why controls exist, and what to do when evidence is incomplete.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DF7DE-CCF9-4738-ABAA-F9AE55A1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B6028-C31A-4E66-A49E-B576416A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BSF-QMS-001 | Quality Management Induction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18CC3-0345-4ADD-8EC6-968C0E41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B8323-4756-4A19-8484-541C4D2B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143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43A38-A60A-43C6-B234-2541A98F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Before audit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677CF1-1AA7-4E04-8192-2976698F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762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Confirm records are complete, versions are current, training is registered, and open actions have owners.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C60FB-FF7E-4A8F-A91D-674DCE59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3143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FE"/>
          </a:solidFill>
          <a:ln xmlns:a="http://schemas.openxmlformats.org/drawingml/2006/main" w="9525">
            <a:solidFill>
              <a:srgbClr val="DDF3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82784-9370-433C-A6D0-6464AEC7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955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During 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A29FA-6D3A-4E1E-A4AE-11D6C90DC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762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Answer only what you know, show evidence, explain actual practice, and escalate questions outside your role.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72767-F706-4317-BE8B-23FECE5F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31432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615181-ED5F-4C15-AFC5-BC67DC8A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955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After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254DE-2599-40B7-91CE-D28D778D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57500"/>
            <a:ext cx="2762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Review findings, define corrective actions, verify effectiveness, and update training or procedures.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18ECF-E620-4FA0-A8A0-7DFF93E2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Strong audit performance comes from normal discipline, not last-minute document cleanup.</a:t>
            </a:r>
          </a:p>
        </p:txBody>
      </p:sp>
    </p:spTree>
    <p:extLst>
      <p:ext uri="{BB962C8B-B14F-4D97-AF65-F5344CB8AC3E}">
        <p14:creationId xmlns:p14="http://schemas.microsoft.com/office/powerpoint/2010/main" val="11623655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ADF620-6B01-4F7E-B36A-9DC06B68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QMS PERFORMANCE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065EE-305A-4959-92D1-62196244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Indicators show whether controls are working or just documented.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A7D5A-89AA-487C-94F6-84C50ADE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KPIs should be reviewed with context, trends, and corrective action status.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05869-5E68-48B5-9339-E206B918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BA771-F0F8-4CD9-B713-E9BD59CD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BSF-QMS-001 | Quality Management Induction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DC737C-B4E6-46C0-A063-77A49291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819150" y="2152650"/>
          <a:ext xmlns:a="http://schemas.openxmlformats.org/drawingml/2006/main" cx="68580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23882"/>
                <a:gridCol w="2017059"/>
                <a:gridCol w="2017059"/>
              </a:tblGrid>
              <a:tr h="4762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Example Target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Receiving records completed on time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&gt;= 98%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Operations / QA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Temperature deviations closed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100% within deadline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Cold Chain Owner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Traceability test completion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Within defined test time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Traceability Officer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Corrective actions overdue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0 critical overdue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Process Owners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Training completion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&gt;= 95% active personnel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HR / QA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Internal audit action closure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&gt;= 90% on time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QA Manager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74BBB-E75A-4AB2-B100-FAC6E165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2724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F2F4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351425-1152-48DB-9009-B9D04442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What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F5DAE-0A98-4938-8AD6-FC66F4FF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7660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 KPI is useful only when it triggers learning, prioritization, and visible follow-up.</a:t>
            </a:r>
          </a:p>
        </p:txBody>
      </p:sp>
    </p:spTree>
    <p:extLst>
      <p:ext uri="{BB962C8B-B14F-4D97-AF65-F5344CB8AC3E}">
        <p14:creationId xmlns:p14="http://schemas.microsoft.com/office/powerpoint/2010/main" val="8235448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AB6013-40E1-4E71-9DD2-70C201A8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DOCUMENT LINKAGES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CCFB2-1602-421C-ABC5-45B95788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induction is connected to the wider BSF document inventory.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5B2E3-9B12-47A3-99A4-38690F7F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These references give employees the practical source documents behind the training.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F25F1-FAB4-412E-8987-C96B942C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3F941-2B61-4088-B7DF-013AF9F9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BSF-QMS-001 | Quality Management Induction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6CABB-71A7-47B4-8AB3-2B0B0134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42950" y="2152650"/>
          <a:ext xmlns:a="http://schemas.openxmlformats.org/drawingml/2006/main" cx="10706100" cy="34671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905250"/>
                <a:gridCol w="6800850"/>
              </a:tblGrid>
              <a:tr h="43338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Document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How it supports the induction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BSF-CORP-001 — Corporate Profile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Defines company context and operating scope.</a:t>
                      </a:r>
                    </a:p>
                  </a:txBody>
                  <a:tcPr marL="91440" marR="91440" marT="45720" marB="45720"/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BSF-DOC-STD-001 — Corporate Document Standard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Controls document format, ownership, versioning, and review.</a:t>
                      </a:r>
                    </a:p>
                  </a:txBody>
                  <a:tcPr marL="91440" marR="91440" marT="45720" marB="45720"/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BSF-HSE-001 — Workplace Safety Procedure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Links safety controls to quality and food safety execution.</a:t>
                      </a:r>
                    </a:p>
                  </a:txBody>
                  <a:tcPr marL="91440" marR="91440" marT="45720" marB="45720"/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BSF-OPS-001 — Cold Chain Control Register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Provides temperature evidence for quality and food safety.</a:t>
                      </a:r>
                    </a:p>
                  </a:txBody>
                  <a:tcPr marL="91440" marR="91440" marT="45720" marB="45720"/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BSF-OPS-004 — Seafood Receiving and Inspection Procedure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Defines incoming inspection and product acceptance controls.</a:t>
                      </a:r>
                    </a:p>
                  </a:txBody>
                  <a:tcPr marL="91440" marR="91440" marT="45720" marB="45720"/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BSF-QMS-002 — Certification and Compliance Overview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Explains the external standards and certification commitments.</a:t>
                      </a:r>
                    </a:p>
                  </a:txBody>
                  <a:tcPr marL="91440" marR="91440" marT="45720" marB="45720"/>
                </a:tc>
              </a:tr>
              <a:tr h="433388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BSF-QMS-003 — Corrective Action and Nonconformity Procedure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11111"/>
                          </a:solidFill>
                        </a:rPr>
                        <a:t>Defines the escalation and improvement method.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49662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368EBB-55D0-4141-B584-88AF5293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QUALITY IN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C35A3-BD03-49F1-89BE-F6F9152F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9144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Do the right check, keep the right evidence, escalate at the right 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7526A-4F34-4DAD-8404-4E111E3C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76650"/>
            <a:ext cx="1905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B4984-C421-486E-8A71-5AD4D054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Questions, doubts, or unclear product status should be raised before work continues.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7938A-796A-44C7-8F2D-D0689A0D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Internal Use 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5E33C-505F-4622-9C5C-E5C63219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BSF-QMS-001 | Quality Management Induction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43FC6-FFB5-496B-8CCB-14563B10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C667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46622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2026-07-21T05:28:09.4440000Z</dcterms:created>
  <dcterms:modified xsi:type="dcterms:W3CDTF">2026-07-21T05:28:09.4440000Z</dcterms:modified>
</coreProperties>
</file>